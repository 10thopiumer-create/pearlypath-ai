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PEARLYPATH AI</a:t>
            </a:r>
          </a:p>
          <a:p>
            <a:pPr>
              <a:spcBef>
                <a:spcPts val="1400"/>
              </a:spcBef>
              <a:defRPr sz="2200">
                <a:solidFill>
                  <a:srgbClr val="20B2AA"/>
                </a:solidFill>
                <a:latin typeface="Arial"/>
              </a:defRPr>
            </a:pPr>
            <a:r>
              <a:t>Bahrain’s MOST Intelligent Tourism Companion</a:t>
            </a:r>
          </a:p>
          <a:p>
            <a:pPr>
              <a:spcBef>
                <a:spcPts val="800"/>
              </a:spcBef>
              <a:defRPr sz="1800" i="1">
                <a:solidFill>
                  <a:srgbClr val="FFFFFF"/>
                </a:solidFill>
                <a:latin typeface="Arial"/>
              </a:defRPr>
            </a:pPr>
            <a:r>
              <a:t>"Your AI Guide to Bahrain"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Team: Afroos, Dev, Faaiz, Rehan, Sharan</a:t>
            </a:r>
          </a:p>
          <a:p>
            <a:pPr>
              <a:spcBef>
                <a:spcPts val="600"/>
              </a:spcBef>
              <a:defRPr sz="1400" b="1">
                <a:solidFill>
                  <a:srgbClr val="20B2AA"/>
                </a:solidFill>
              </a:defRPr>
            </a:pPr>
            <a:r>
              <a:t>STREAMSCAPES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4114800"/>
            <a:ext cx="2560320" cy="914400"/>
          </a:xfrm>
          <a:prstGeom prst="rect">
            <a:avLst/>
          </a:prstGeom>
          <a:solidFill>
            <a:srgbClr val="646E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 PearlyPath Logo Place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B2AA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Arial"/>
              </a:defRPr>
            </a:pPr>
            <a:r>
              <a:t>Tourism Challenges in Bahrain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2B45"/>
                </a:solidFill>
              </a:defRPr>
            </a:pPr>
            <a:r>
              <a:t>Tourists Often Face:</a:t>
            </a:r>
          </a:p>
          <a:p>
            <a:pPr>
              <a:spcBef>
                <a:spcPts val="1200"/>
              </a:spcBef>
              <a:defRPr sz="1400">
                <a:solidFill>
                  <a:srgbClr val="0D2B45"/>
                </a:solidFill>
              </a:defRPr>
            </a:pPr>
            <a:r>
              <a:t>❌  Struggle to find personalized experiences</a:t>
            </a:r>
          </a:p>
          <a:p>
            <a:pPr>
              <a:spcBef>
                <a:spcPts val="1200"/>
              </a:spcBef>
              <a:defRPr sz="1400">
                <a:solidFill>
                  <a:srgbClr val="0D2B45"/>
                </a:solidFill>
              </a:defRPr>
            </a:pPr>
            <a:r>
              <a:t>❌  Visit only hyper-popular destinations</a:t>
            </a:r>
          </a:p>
          <a:p>
            <a:pPr>
              <a:spcBef>
                <a:spcPts val="1200"/>
              </a:spcBef>
              <a:defRPr sz="1400">
                <a:solidFill>
                  <a:srgbClr val="0D2B45"/>
                </a:solidFill>
              </a:defRPr>
            </a:pPr>
            <a:r>
              <a:t>❌  Miss out on authentic cultural attractions</a:t>
            </a:r>
          </a:p>
          <a:p>
            <a:pPr>
              <a:spcBef>
                <a:spcPts val="1200"/>
              </a:spcBef>
              <a:defRPr sz="1400">
                <a:solidFill>
                  <a:srgbClr val="0D2B45"/>
                </a:solidFill>
              </a:defRPr>
            </a:pPr>
            <a:r>
              <a:t>❌  Face friction with local language &amp; planning barriers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2B45"/>
                </a:solidFill>
              </a:defRPr>
            </a:pPr>
            <a:r>
              <a:t>Local Businesses Often:</a:t>
            </a:r>
          </a:p>
          <a:p>
            <a:pPr>
              <a:spcBef>
                <a:spcPts val="1200"/>
              </a:spcBef>
              <a:defRPr sz="1400">
                <a:solidFill>
                  <a:srgbClr val="0D2B45"/>
                </a:solidFill>
              </a:defRPr>
            </a:pPr>
            <a:r>
              <a:t>⚠️  Small local businesses receive limited tourist visibility</a:t>
            </a:r>
          </a:p>
          <a:p>
            <a:pPr>
              <a:spcBef>
                <a:spcPts val="1200"/>
              </a:spcBef>
              <a:defRPr sz="1400">
                <a:solidFill>
                  <a:srgbClr val="0D2B45"/>
                </a:solidFill>
              </a:defRPr>
            </a:pPr>
            <a:r>
              <a:t>⚠️  Tourism spending remains concentrated in a few 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6E78"/>
                </a:solidFill>
              </a:defRPr>
            </a:pPr>
            <a:r>
              <a:t>Popular Mainstream Tracks: The Avenues • Bahrain City Centre • Amwaj Islands</a:t>
            </a:r>
          </a:p>
          <a:p>
            <a:pPr>
              <a:spcBef>
                <a:spcPts val="400"/>
              </a:spcBef>
              <a:defRPr sz="1300" b="1">
                <a:solidFill>
                  <a:srgbClr val="20B2AA"/>
                </a:solidFill>
              </a:defRPr>
            </a:pPr>
            <a:r>
              <a:t>Overlooked Heritage Gems: Rashid's Cafeteria • Al Jasra Handicrafts Centre • Traditional Halwa Shops • Old Textile Souq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B2AA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Arial"/>
              </a:defRPr>
            </a:pPr>
            <a:r>
              <a:t>Introducing PearlyPath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D2B45"/>
                </a:solidFill>
              </a:defRPr>
            </a:pPr>
            <a:r>
              <a:t>An AI-Powered Tourism Companion designed to engineer personalized travel experiences while actively expanding visibility for Bahrain's cultural heritage markers and native enterprises.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0B2AA"/>
                </a:solidFill>
              </a:defRPr>
            </a:pPr>
            <a:r>
              <a:t>USER INPUT ENGINE</a:t>
            </a:r>
          </a:p>
          <a:p>
            <a:pPr>
              <a:spcBef>
                <a:spcPts val="1400"/>
              </a:spcBef>
              <a:defRPr sz="1400">
                <a:solidFill>
                  <a:srgbClr val="0D2B45"/>
                </a:solidFill>
              </a:defRPr>
            </a:pPr>
            <a:r>
              <a:t>• User Mood Data</a:t>
            </a:r>
          </a:p>
          <a:p>
            <a:pPr>
              <a:spcBef>
                <a:spcPts val="1400"/>
              </a:spcBef>
              <a:defRPr sz="1400">
                <a:solidFill>
                  <a:srgbClr val="0D2B45"/>
                </a:solidFill>
              </a:defRPr>
            </a:pPr>
            <a:r>
              <a:t>• Strict Budget Inputs</a:t>
            </a:r>
          </a:p>
          <a:p>
            <a:pPr>
              <a:spcBef>
                <a:spcPts val="1400"/>
              </a:spcBef>
              <a:defRPr sz="1400">
                <a:solidFill>
                  <a:srgbClr val="0D2B45"/>
                </a:solidFill>
              </a:defRPr>
            </a:pPr>
            <a:r>
              <a:t>• Trip Duration Bounds</a:t>
            </a:r>
          </a:p>
          <a:p>
            <a:pPr>
              <a:spcBef>
                <a:spcPts val="1400"/>
              </a:spcBef>
              <a:defRPr sz="1400">
                <a:solidFill>
                  <a:srgbClr val="0D2B45"/>
                </a:solidFill>
              </a:defRPr>
            </a:pPr>
            <a:r>
              <a:t>• Granular Interests</a:t>
            </a:r>
          </a:p>
        </p:txBody>
      </p:sp>
      <p:sp>
        <p:nvSpPr>
          <p:cNvPr id="6" name="Chevron 5"/>
          <p:cNvSpPr/>
          <p:nvPr/>
        </p:nvSpPr>
        <p:spPr>
          <a:xfrm>
            <a:off x="4389120" y="3657600"/>
            <a:ext cx="3291840" cy="914400"/>
          </a:xfrm>
          <a:prstGeom prst="chevron">
            <a:avLst/>
          </a:prstGeom>
          <a:solidFill>
            <a:srgbClr val="0D2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PEARLYPATH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560320"/>
            <a:ext cx="33832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0B2AA"/>
                </a:solidFill>
              </a:defRPr>
            </a:pPr>
            <a:r>
              <a:t>DYNAMIC OUTPUTS</a:t>
            </a:r>
          </a:p>
          <a:p>
            <a:pPr>
              <a:spcBef>
                <a:spcPts val="1400"/>
              </a:spcBef>
              <a:defRPr sz="1400">
                <a:solidFill>
                  <a:srgbClr val="0D2B45"/>
                </a:solidFill>
              </a:defRPr>
            </a:pPr>
            <a:r>
              <a:t>• Personalized Itineraries</a:t>
            </a:r>
          </a:p>
          <a:p>
            <a:pPr>
              <a:spcBef>
                <a:spcPts val="1400"/>
              </a:spcBef>
              <a:defRPr sz="1400">
                <a:solidFill>
                  <a:srgbClr val="0D2B45"/>
                </a:solidFill>
              </a:defRPr>
            </a:pPr>
            <a:r>
              <a:t>• Hidden Gem Matrix</a:t>
            </a:r>
          </a:p>
          <a:p>
            <a:pPr>
              <a:spcBef>
                <a:spcPts val="1400"/>
              </a:spcBef>
              <a:defRPr sz="1400">
                <a:solidFill>
                  <a:srgbClr val="0D2B45"/>
                </a:solidFill>
              </a:defRPr>
            </a:pPr>
            <a:r>
              <a:t>• Cultural Guidelines</a:t>
            </a:r>
          </a:p>
          <a:p>
            <a:pPr>
              <a:spcBef>
                <a:spcPts val="1400"/>
              </a:spcBef>
              <a:defRPr sz="1400">
                <a:solidFill>
                  <a:srgbClr val="0D2B45"/>
                </a:solidFill>
              </a:defRPr>
            </a:pPr>
            <a:r>
              <a:t>• Real-time Translation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B2AA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Arial"/>
              </a:defRPr>
            </a:pPr>
            <a:r>
              <a:t>Smart Tourism Core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46888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2B45"/>
                </a:solidFill>
              </a:defRPr>
            </a:pPr>
            <a:r>
              <a:t>AI Itinerary Planner</a:t>
            </a:r>
          </a:p>
          <a:p>
            <a:pPr>
              <a:spcBef>
                <a:spcPts val="1400"/>
              </a:spcBef>
              <a:defRPr sz="1300">
                <a:solidFill>
                  <a:srgbClr val="646E78"/>
                </a:solidFill>
              </a:defRPr>
            </a:pPr>
            <a:r>
              <a:t>Compiles strict multi-point schedules handling custom budgets, tailored personal interests, and duration lengths seamlessly.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011680"/>
            <a:ext cx="246888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2B45"/>
                </a:solidFill>
              </a:defRPr>
            </a:pPr>
            <a:r>
              <a:t>AI Tourism Assistant</a:t>
            </a:r>
          </a:p>
          <a:p>
            <a:pPr>
              <a:spcBef>
                <a:spcPts val="1400"/>
              </a:spcBef>
              <a:defRPr sz="1300">
                <a:solidFill>
                  <a:srgbClr val="646E78"/>
                </a:solidFill>
              </a:defRPr>
            </a:pPr>
            <a:r>
              <a:t>Instantly processes complex native cultural etiquette queries, transit schedules, and deep-layer restaurant lookups.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011680"/>
            <a:ext cx="246888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2B45"/>
                </a:solidFill>
              </a:defRPr>
            </a:pPr>
            <a:r>
              <a:t>Crowd Management</a:t>
            </a:r>
          </a:p>
          <a:p>
            <a:pPr>
              <a:spcBef>
                <a:spcPts val="1400"/>
              </a:spcBef>
              <a:defRPr sz="1300">
                <a:solidFill>
                  <a:srgbClr val="646E78"/>
                </a:solidFill>
              </a:defRPr>
            </a:pPr>
            <a:r>
              <a:t>Leverages predictive modeling to forecast destination congestion, preserving comfortable visitor volume layouts.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011680"/>
            <a:ext cx="246888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2B45"/>
                </a:solidFill>
              </a:defRPr>
            </a:pPr>
            <a:r>
              <a:t>Hidden Gem Router</a:t>
            </a:r>
          </a:p>
          <a:p>
            <a:pPr>
              <a:spcBef>
                <a:spcPts val="1400"/>
              </a:spcBef>
              <a:defRPr sz="1300">
                <a:solidFill>
                  <a:srgbClr val="646E78"/>
                </a:solidFill>
              </a:defRPr>
            </a:pPr>
            <a:r>
              <a:t>Directs traffic safely to Monet Cafe, Al Jasra, and local Souqs instead of only over-indexing mainstream hubs.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B2AA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Arial"/>
              </a:defRPr>
            </a:pPr>
            <a:r>
              <a:t>Operational Execution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468880" cy="3474720"/>
          </a:xfrm>
          <a:prstGeom prst="roundRect">
            <a:avLst/>
          </a:prstGeom>
          <a:solidFill>
            <a:srgbClr val="0D2B45"/>
          </a:solidFill>
          <a:ln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Input Capture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User profiles mood, budgetary parameters, and specific cultural interests.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28600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0B2AA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600" b="1">
                <a:solidFill>
                  <a:srgbClr val="0D2B45"/>
                </a:solidFill>
              </a:defRPr>
            </a:pPr>
            <a:r>
              <a:t>Context Analysis</a:t>
            </a:r>
          </a:p>
          <a:p>
            <a:pPr>
              <a:spcBef>
                <a:spcPts val="1000"/>
              </a:spcBef>
              <a:defRPr sz="1200">
                <a:solidFill>
                  <a:srgbClr val="646E78"/>
                </a:solidFill>
              </a:defRPr>
            </a:pPr>
            <a:r>
              <a:t>The AI core contextualizes native geographic nodes and proximity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0B2AA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600" b="1">
                <a:solidFill>
                  <a:srgbClr val="0D2B45"/>
                </a:solidFill>
              </a:defRPr>
            </a:pPr>
            <a:r>
              <a:t>Engine Selection</a:t>
            </a:r>
          </a:p>
          <a:p>
            <a:pPr>
              <a:spcBef>
                <a:spcPts val="1000"/>
              </a:spcBef>
              <a:defRPr sz="1200">
                <a:solidFill>
                  <a:srgbClr val="646E78"/>
                </a:solidFill>
              </a:defRPr>
            </a:pPr>
            <a:r>
              <a:t>Algorithm matches optimized paths connecting overlooked local vendors.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28600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0B2AA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600" b="1">
                <a:solidFill>
                  <a:srgbClr val="0D2B45"/>
                </a:solidFill>
              </a:defRPr>
            </a:pPr>
            <a:r>
              <a:t>Live Delivery</a:t>
            </a:r>
          </a:p>
          <a:p>
            <a:pPr>
              <a:spcBef>
                <a:spcPts val="1000"/>
              </a:spcBef>
              <a:defRPr sz="1200">
                <a:solidFill>
                  <a:srgbClr val="646E78"/>
                </a:solidFill>
              </a:defRPr>
            </a:pPr>
            <a:r>
              <a:t>User renders live dynamic routes, translation bridges, and custom maps.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B2AA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Arial"/>
              </a:defRPr>
            </a:pPr>
            <a:r>
              <a:t>Sustainable Architecture Revenue 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3383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20B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2B45"/>
                </a:solidFill>
              </a:defRPr>
            </a:pPr>
            <a:r>
              <a:t>B2B Vendor Partnerships</a:t>
            </a:r>
          </a:p>
          <a:p>
            <a:pPr>
              <a:spcBef>
                <a:spcPts val="1400"/>
              </a:spcBef>
              <a:defRPr sz="1300">
                <a:solidFill>
                  <a:srgbClr val="646E78"/>
                </a:solidFill>
              </a:defRPr>
            </a:pPr>
            <a:r>
              <a:t>Integrated native dining, hospitality venues, and specialty boutiques access high-intent premium placement inside recommendations loops dynamically.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194560"/>
            <a:ext cx="3383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2B45"/>
                </a:solidFill>
              </a:defRPr>
            </a:pPr>
            <a:r>
              <a:t>B2C Premium Membership</a:t>
            </a:r>
          </a:p>
          <a:p>
            <a:pPr>
              <a:spcBef>
                <a:spcPts val="1400"/>
              </a:spcBef>
              <a:defRPr sz="1300">
                <a:solidFill>
                  <a:srgbClr val="646E78"/>
                </a:solidFill>
              </a:defRPr>
            </a:pPr>
            <a:r>
              <a:t>Unlocks high-tier continuous mapping structures, completely offline local translation models, and advanced concierge optimization loops.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194560"/>
            <a:ext cx="3383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2B45"/>
                </a:solidFill>
              </a:defRPr>
            </a:pPr>
            <a:r>
              <a:t>Macro Tourism Analytics</a:t>
            </a:r>
          </a:p>
          <a:p>
            <a:pPr>
              <a:spcBef>
                <a:spcPts val="1400"/>
              </a:spcBef>
              <a:defRPr sz="1300">
                <a:solidFill>
                  <a:srgbClr val="646E78"/>
                </a:solidFill>
              </a:defRPr>
            </a:pPr>
            <a:r>
              <a:t>Aggregates absolute anonymous structural trend tracking for government agencies, hospitality entities, and systemic planning councils.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B2AA"/>
                </a:solidFill>
                <a:latin typeface="Arial"/>
              </a:defRPr>
            </a:pPr>
            <a:r>
              <a:t>BENEFITS FOR BAHRAIN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Arial"/>
              </a:defRPr>
            </a:pPr>
            <a:r>
              <a:t>Impact on Bahrain's Tourism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2B45"/>
                </a:solidFill>
              </a:defRPr>
            </a:pPr>
            <a:r>
              <a:t>Empowering Local Micro-SMEs</a:t>
            </a:r>
          </a:p>
          <a:p>
            <a:pPr>
              <a:spcBef>
                <a:spcPts val="600"/>
              </a:spcBef>
              <a:defRPr sz="1200">
                <a:solidFill>
                  <a:srgbClr val="646E78"/>
                </a:solidFill>
              </a:defRPr>
            </a:pPr>
            <a:r>
              <a:t>Drives immediate monetization directly to neighborhood cafes, independent handicraft artisans, and heritage sites.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2B45"/>
                </a:solidFill>
              </a:defRPr>
            </a:pPr>
            <a:r>
              <a:t>Elevating the Visitor UX Matrix</a:t>
            </a:r>
          </a:p>
          <a:p>
            <a:pPr>
              <a:spcBef>
                <a:spcPts val="600"/>
              </a:spcBef>
              <a:defRPr sz="1200">
                <a:solidFill>
                  <a:srgbClr val="646E78"/>
                </a:solidFill>
              </a:defRPr>
            </a:pPr>
            <a:r>
              <a:t>Replaces generic travel stress with deeply contextualized native schedules and real-time navigation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2B45"/>
                </a:solidFill>
              </a:defRPr>
            </a:pPr>
            <a:r>
              <a:t>Geographic De-congestion Mechanics</a:t>
            </a:r>
          </a:p>
          <a:p>
            <a:pPr>
              <a:spcBef>
                <a:spcPts val="600"/>
              </a:spcBef>
              <a:defRPr sz="1200">
                <a:solidFill>
                  <a:srgbClr val="646E78"/>
                </a:solidFill>
              </a:defRPr>
            </a:pPr>
            <a:r>
              <a:t>Redirects volume patterns safely outward from the standard shopping strip hubs into authentic cultural destinations.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2B45"/>
                </a:solidFill>
              </a:defRPr>
            </a:pPr>
            <a:r>
              <a:t>Amplified Economic Circulation</a:t>
            </a:r>
          </a:p>
          <a:p>
            <a:pPr>
              <a:spcBef>
                <a:spcPts val="600"/>
              </a:spcBef>
              <a:defRPr sz="1200">
                <a:solidFill>
                  <a:srgbClr val="646E78"/>
                </a:solidFill>
              </a:defRPr>
            </a:pPr>
            <a:r>
              <a:t>Longer exploration pathways directly correlate with diversified regional spending velocities across sectors.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B2AA"/>
                </a:solidFill>
                <a:latin typeface="Arial"/>
              </a:defRPr>
            </a:pPr>
            <a:r>
              <a:t>UN 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Arial"/>
              </a:defRPr>
            </a:pPr>
            <a:r>
              <a:t>Supporting SDG 8: Decent Work &amp; Economic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 b="1">
                <a:solidFill>
                  <a:srgbClr val="0D2B45"/>
                </a:solidFill>
              </a:defRPr>
            </a:pPr>
            <a:r>
              <a:t>✔  Direct SME Capitalization: </a:t>
            </a:r>
            <a:r>
              <a:rPr b="0">
                <a:solidFill>
                  <a:srgbClr val="646E78"/>
                </a:solidFill>
              </a:rPr>
              <a:t>Establishes long-tail discoverability pipelines for highly vulnerable heritage artisan trades.</a:t>
            </a:r>
          </a:p>
          <a:p>
            <a:pPr>
              <a:spcBef>
                <a:spcPts val="1400"/>
              </a:spcBef>
              <a:defRPr sz="1400" b="1">
                <a:solidFill>
                  <a:srgbClr val="0D2B45"/>
                </a:solidFill>
              </a:defRPr>
            </a:pPr>
            <a:r>
              <a:t>✔  Tourism Volume Retention: </a:t>
            </a:r>
            <a:r>
              <a:rPr b="0">
                <a:solidFill>
                  <a:srgbClr val="646E78"/>
                </a:solidFill>
              </a:rPr>
              <a:t>Safely extends visitor retention timetables, directly elevating regional hospitality metrics.</a:t>
            </a:r>
          </a:p>
          <a:p>
            <a:pPr>
              <a:spcBef>
                <a:spcPts val="1400"/>
              </a:spcBef>
              <a:defRPr sz="1400" b="1">
                <a:solidFill>
                  <a:srgbClr val="0D2B45"/>
                </a:solidFill>
              </a:defRPr>
            </a:pPr>
            <a:r>
              <a:t>✔  Frontline Digital Innovation: </a:t>
            </a:r>
            <a:r>
              <a:rPr b="0">
                <a:solidFill>
                  <a:srgbClr val="646E78"/>
                </a:solidFill>
              </a:rPr>
              <a:t>Deploys production-grade AI algorithms to fundamentally upgrade and modernize the nation's service economy frameworks.</a:t>
            </a:r>
          </a:p>
          <a:p>
            <a:pPr>
              <a:spcBef>
                <a:spcPts val="1400"/>
              </a:spcBef>
              <a:defRPr sz="1400" b="1">
                <a:solidFill>
                  <a:srgbClr val="0D2B45"/>
                </a:solidFill>
              </a:defRPr>
            </a:pPr>
            <a:r>
              <a:t>✔  Sustainable Economic Scaling: </a:t>
            </a:r>
            <a:r>
              <a:rPr b="0">
                <a:solidFill>
                  <a:srgbClr val="646E78"/>
                </a:solidFill>
              </a:rPr>
              <a:t>Engineers scalable, high-yield infrastructure growth completely independent of heavy capital asset footprints.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120640"/>
            <a:ext cx="10728655" cy="9144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 Engine Strategy: PearlyPath AI converts native tourism paths into long-term decentralized economic opportunities.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800"/>
              </a:spcBef>
              <a:defRPr sz="2400" b="1">
                <a:solidFill>
                  <a:srgbClr val="20B2AA"/>
                </a:solidFill>
              </a:defRPr>
            </a:pPr>
            <a:r>
              <a:t>PearlyPath AI</a:t>
            </a:r>
          </a:p>
          <a:p>
            <a:pPr>
              <a:spcBef>
                <a:spcPts val="600"/>
              </a:spcBef>
              <a:defRPr sz="1800" i="1">
                <a:solidFill>
                  <a:srgbClr val="FFFFFF"/>
                </a:solidFill>
              </a:defRPr>
            </a:pPr>
            <a:r>
              <a:t>"Discover Bahrain Intelligently."</a:t>
            </a:r>
          </a:p>
          <a:p>
            <a:pPr>
              <a:spcBef>
                <a:spcPts val="2800"/>
              </a:spcBef>
              <a:defRPr sz="1600">
                <a:solidFill>
                  <a:srgbClr val="646E78"/>
                </a:solidFill>
              </a:defRPr>
            </a:pPr>
            <a:r>
              <a:t>Questions &amp; Answers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1645920"/>
            <a:ext cx="34747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2B45"/>
                </a:solidFill>
              </a:defRPr>
            </a:pPr>
            <a:r>
              <a:t>SCAN FOR LIVE DEMO</a:t>
            </a:r>
          </a:p>
          <a:p>
            <a:pPr algn="ctr">
              <a:spcBef>
                <a:spcPts val="4400"/>
              </a:spcBef>
              <a:defRPr sz="1200">
                <a:solidFill>
                  <a:srgbClr val="646E78"/>
                </a:solidFill>
              </a:defRPr>
            </a:pPr>
            <a:r>
              <a:t>[ Drop QR Code Here ]</a:t>
            </a:r>
          </a:p>
          <a:p>
            <a:pPr algn="ctr">
              <a:spcBef>
                <a:spcPts val="5400"/>
              </a:spcBef>
              <a:defRPr sz="1100">
                <a:solidFill>
                  <a:srgbClr val="0D2B45"/>
                </a:solidFill>
              </a:defRPr>
            </a:pPr>
            <a:r>
              <a:t>📱 Scan the QR code to explore PearlyPath AI live on your mobile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